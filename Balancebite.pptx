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76" r:id="rId2"/>
    <p:sldId id="257" r:id="rId3"/>
    <p:sldId id="258" r:id="rId4"/>
    <p:sldId id="275" r:id="rId5"/>
    <p:sldId id="264" r:id="rId6"/>
    <p:sldId id="265" r:id="rId7"/>
    <p:sldId id="271" r:id="rId8"/>
    <p:sldId id="331" r:id="rId9"/>
    <p:sldId id="332" r:id="rId10"/>
    <p:sldId id="330" r:id="rId11"/>
    <p:sldId id="333" r:id="rId12"/>
    <p:sldId id="334" r:id="rId13"/>
    <p:sldId id="335" r:id="rId14"/>
    <p:sldId id="329" r:id="rId15"/>
    <p:sldId id="305" r:id="rId16"/>
    <p:sldId id="308" r:id="rId17"/>
    <p:sldId id="310" r:id="rId18"/>
    <p:sldId id="336" r:id="rId19"/>
    <p:sldId id="328" r:id="rId20"/>
  </p:sldIdLst>
  <p:sldSz cx="9144000" cy="6858000" type="screen4x3"/>
  <p:notesSz cx="7010400" cy="9296400"/>
  <p:defaultTextStyle>
    <a:defPPr>
      <a:defRPr lang="en-GB"/>
    </a:defPPr>
    <a:lvl1pPr algn="l" defTabSz="457200" rtl="0" fontAlgn="base">
      <a:lnSpc>
        <a:spcPct val="87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itchFamily="34" charset="0"/>
      <a:defRPr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lnSpc>
        <a:spcPct val="87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itchFamily="34" charset="0"/>
      <a:defRPr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lnSpc>
        <a:spcPct val="87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itchFamily="34" charset="0"/>
      <a:defRPr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lnSpc>
        <a:spcPct val="87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itchFamily="34" charset="0"/>
      <a:defRPr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lnSpc>
        <a:spcPct val="87000"/>
      </a:lnSpc>
      <a:spcBef>
        <a:spcPct val="0"/>
      </a:spcBef>
      <a:spcAft>
        <a:spcPct val="0"/>
      </a:spcAft>
      <a:buClr>
        <a:srgbClr val="000000"/>
      </a:buClr>
      <a:buSzPct val="100000"/>
      <a:buFont typeface="Arial" pitchFamily="34" charset="0"/>
      <a:defRPr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808000"/>
    <a:srgbClr val="F353BE"/>
    <a:srgbClr val="CC6600"/>
    <a:srgbClr val="CCFFCC"/>
    <a:srgbClr val="00B050"/>
    <a:srgbClr val="FFFFCC"/>
    <a:srgbClr val="00CC99"/>
    <a:srgbClr val="66CCFF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03" autoAdjust="0"/>
  </p:normalViewPr>
  <p:slideViewPr>
    <p:cSldViewPr>
      <p:cViewPr varScale="1">
        <p:scale>
          <a:sx n="70" d="100"/>
          <a:sy n="70" d="100"/>
        </p:scale>
        <p:origin x="1386" y="6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186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89D6F2F4-1F61-4BFD-8088-AFE6CB4E5C9E}" type="datetimeFigureOut">
              <a:rPr lang="en-US"/>
              <a:pPr/>
              <a:t>5/7/25</a:t>
            </a:fld>
            <a:endParaRPr lang="en-US"/>
          </a:p>
        </p:txBody>
      </p:sp>
      <p:sp>
        <p:nvSpPr>
          <p:cNvPr id="829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829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4016D936-6536-4B98-8C3E-24F823A5B3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91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1"/>
          <p:cNvSpPr>
            <a:spLocks noChangeArrowheads="1"/>
          </p:cNvSpPr>
          <p:nvPr/>
        </p:nvSpPr>
        <p:spPr bwMode="auto">
          <a:xfrm>
            <a:off x="0" y="0"/>
            <a:ext cx="7010400" cy="92964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lIns="93177" tIns="46589" rIns="93177" bIns="46589" anchor="ctr"/>
          <a:lstStyle/>
          <a:p>
            <a:pPr>
              <a:buFont typeface="Arial" charset="0"/>
              <a:buNone/>
              <a:defRPr/>
            </a:pPr>
            <a:endParaRPr lang="en-US">
              <a:latin typeface="Arial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9713913" y="-6578600"/>
            <a:ext cx="19427826" cy="14571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3075" name="Rectangle 3"/>
          <p:cNvSpPr>
            <a:spLocks noGrp="1" noChangeArrowheads="1"/>
          </p:cNvSpPr>
          <p:nvPr>
            <p:ph type="body"/>
          </p:nvPr>
        </p:nvSpPr>
        <p:spPr bwMode="auto">
          <a:xfrm>
            <a:off x="701041" y="4415790"/>
            <a:ext cx="5605074" cy="41817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93569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011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are the contents for today’s presentation.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lIns="93177" tIns="46589" rIns="93177" bIns="46589"/>
          <a:lstStyle/>
          <a:p>
            <a:pPr>
              <a:defRPr/>
            </a:pPr>
            <a:fld id="{6714323E-9E94-4A20-A21F-CA2F2AF1E69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76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lIns="93177" tIns="46589" rIns="93177" bIns="46589"/>
          <a:lstStyle/>
          <a:p>
            <a:pPr>
              <a:defRPr/>
            </a:pPr>
            <a:fld id="{6714323E-9E94-4A20-A21F-CA2F2AF1E69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5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77126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lIns="93177" tIns="46589" rIns="93177" bIns="46589"/>
          <a:lstStyle/>
          <a:p>
            <a:pPr>
              <a:defRPr/>
            </a:pPr>
            <a:fld id="{6714323E-9E94-4A20-A21F-CA2F2AF1E69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47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lIns="93177" tIns="46589" rIns="93177" bIns="46589"/>
          <a:lstStyle/>
          <a:p>
            <a:pPr>
              <a:defRPr/>
            </a:pPr>
            <a:fld id="{6714323E-9E94-4A20-A21F-CA2F2AF1E69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74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lIns="93177" tIns="46589" rIns="93177" bIns="46589"/>
          <a:lstStyle/>
          <a:p>
            <a:pPr>
              <a:defRPr/>
            </a:pPr>
            <a:fld id="{6714323E-9E94-4A20-A21F-CA2F2AF1E69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75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lIns="93177" tIns="46589" rIns="93177" bIns="46589"/>
          <a:lstStyle/>
          <a:p>
            <a:pPr>
              <a:defRPr/>
            </a:pPr>
            <a:fld id="{6714323E-9E94-4A20-A21F-CA2F2AF1E69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256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lIns="93177" tIns="46589" rIns="93177" bIns="46589"/>
          <a:lstStyle/>
          <a:p>
            <a:pPr>
              <a:defRPr/>
            </a:pPr>
            <a:fld id="{6714323E-9E94-4A20-A21F-CA2F2AF1E69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63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81941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81941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819414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9713913" y="-6578600"/>
            <a:ext cx="19427826" cy="14571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941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912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1A14A-9ACC-44DF-8546-5CB9CEA739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2CCB4E-7DDC-4FBD-877B-F1654EDC19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5943600"/>
            <a:ext cx="2514600" cy="838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endParaRPr lang="zh-TW" alt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AA69FA-27AF-48DA-B336-EA57C0E30C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7013" cy="3884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981200"/>
            <a:ext cx="4037012" cy="3884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A7E1EA-AF93-4378-9B13-DE75AF3B73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D9A46-BDF1-4002-8D4B-183F87C898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9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B8FCB-F626-4F4D-A069-008F63AA7E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0E64F9-AB71-4556-9719-B190A1070E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4"/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endParaRPr lang="zh-TW" alt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03C67-C836-434C-94D3-2C15122E2C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endParaRPr 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endParaRPr lang="zh-TW" alt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035967-18B5-4263-A6D8-7C61B2BB4F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AA45D1-6346-4005-BFEF-8F149B0F77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7813" y="457200"/>
            <a:ext cx="2055812" cy="5408613"/>
          </a:xfrm>
        </p:spPr>
        <p:txBody>
          <a:bodyPr vert="eaVert"/>
          <a:lstStyle/>
          <a:p>
            <a:endParaRPr 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8213" cy="5408613"/>
          </a:xfrm>
        </p:spPr>
        <p:txBody>
          <a:bodyPr vert="eaVert"/>
          <a:lstStyle/>
          <a:p>
            <a:pPr lvl="0"/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441C6-9307-4551-9563-D8CFA7361E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6425" cy="13700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7013" cy="3884613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6613" y="1981200"/>
            <a:ext cx="4037012" cy="1865313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6613" y="3998913"/>
            <a:ext cx="4037012" cy="1866900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6211F5-4CF2-416A-9916-85D0784B4C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6425" cy="137001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7013" cy="3884613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981200"/>
            <a:ext cx="4037012" cy="3884613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A0C61A-1B91-4079-B6EE-43D8F7F0ED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dt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24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buFont typeface="Arial" charset="0"/>
              <a:buNone/>
              <a:defRPr sz="12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 typeface="Arial Black" pitchFamily="34" charset="0"/>
              <a:buNone/>
              <a:defRPr sz="1200">
                <a:solidFill>
                  <a:srgbClr val="000000"/>
                </a:solidFill>
                <a:latin typeface="Arial Black" pitchFamily="34" charset="0"/>
              </a:defRPr>
            </a:lvl1pPr>
          </a:lstStyle>
          <a:p>
            <a:pPr>
              <a:defRPr/>
            </a:pPr>
            <a:fld id="{D3F2AE4B-0AF0-4223-9C12-43F4839EB3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028" name="Group 3"/>
          <p:cNvGrpSpPr>
            <a:grpSpLocks/>
          </p:cNvGrpSpPr>
          <p:nvPr/>
        </p:nvGrpSpPr>
        <p:grpSpPr bwMode="auto">
          <a:xfrm>
            <a:off x="0" y="0"/>
            <a:ext cx="9142413" cy="544513"/>
            <a:chOff x="0" y="0"/>
            <a:chExt cx="5759" cy="343"/>
          </a:xfrm>
        </p:grpSpPr>
        <p:sp>
          <p:nvSpPr>
            <p:cNvPr id="2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CCCCE6"/>
                </a:gs>
                <a:gs pos="100000">
                  <a:srgbClr val="FFFFFF"/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Arial" charset="0"/>
                <a:buNone/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3" name="Rectangle 5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00007D"/>
                </a:gs>
                <a:gs pos="100000">
                  <a:srgbClr val="FFFFFF"/>
                </a:gs>
              </a:gsLst>
              <a:lin ang="108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Arial" charset="0"/>
                <a:buNone/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4" name="Rectangle 6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CCCCE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Arial" charset="0"/>
                <a:buNone/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CCCCE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Arial" charset="0"/>
                <a:buNone/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9999CC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Arial" charset="0"/>
                <a:buNone/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CCCCE6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Arial" charset="0"/>
                <a:buNone/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34" name="Rectangle 10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00007D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Arial" charset="0"/>
                <a:buNone/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35" name="Rectangle 11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9999CC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Arial" charset="0"/>
                <a:buNone/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36" name="Rectangle 12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9999CC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Arial" charset="0"/>
                <a:buNone/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1029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6425" cy="1370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30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6425" cy="3884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1039" name="Rectangle 15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5225"/>
            <a:ext cx="2130425" cy="473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 typeface="Arial" charset="0"/>
              <a:buNone/>
              <a:defRPr sz="12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4400">
          <a:solidFill>
            <a:srgbClr val="000000"/>
          </a:solidFill>
          <a:latin typeface="Arial" charset="0"/>
          <a:ea typeface="ＭＳ Ｐゴシック" pitchFamily="34" charset="-128"/>
        </a:defRPr>
      </a:lvl2pPr>
      <a:lvl3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4400">
          <a:solidFill>
            <a:srgbClr val="000000"/>
          </a:solidFill>
          <a:latin typeface="Arial" charset="0"/>
          <a:ea typeface="ＭＳ Ｐゴシック" pitchFamily="34" charset="-128"/>
        </a:defRPr>
      </a:lvl3pPr>
      <a:lvl4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4400">
          <a:solidFill>
            <a:srgbClr val="000000"/>
          </a:solidFill>
          <a:latin typeface="Arial" charset="0"/>
          <a:ea typeface="ＭＳ Ｐゴシック" pitchFamily="34" charset="-128"/>
        </a:defRPr>
      </a:lvl4pPr>
      <a:lvl5pPr algn="l" defTabSz="457200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itchFamily="34" charset="0"/>
        <a:defRPr sz="4400">
          <a:solidFill>
            <a:srgbClr val="000000"/>
          </a:solidFill>
          <a:latin typeface="Arial" charset="0"/>
          <a:ea typeface="ＭＳ Ｐゴシック" pitchFamily="34" charset="-128"/>
        </a:defRPr>
      </a:lvl5pPr>
      <a:lvl6pPr marL="457200" algn="l" defTabSz="457200" rtl="0" fontAlgn="base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ea typeface="ＭＳ Ｐゴシック" pitchFamily="34" charset="-128"/>
        </a:defRPr>
      </a:lvl6pPr>
      <a:lvl7pPr marL="914400" algn="l" defTabSz="457200" rtl="0" fontAlgn="base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ea typeface="ＭＳ Ｐゴシック" pitchFamily="34" charset="-128"/>
        </a:defRPr>
      </a:lvl7pPr>
      <a:lvl8pPr marL="1371600" algn="l" defTabSz="457200" rtl="0" fontAlgn="base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ea typeface="ＭＳ Ｐゴシック" pitchFamily="34" charset="-128"/>
        </a:defRPr>
      </a:lvl8pPr>
      <a:lvl9pPr marL="1828800" algn="l" defTabSz="457200" rtl="0" fontAlgn="base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charset="0"/>
        <a:defRPr sz="4400">
          <a:solidFill>
            <a:srgbClr val="000000"/>
          </a:solidFill>
          <a:latin typeface="Arial" charset="0"/>
          <a:ea typeface="ＭＳ Ｐゴシック" pitchFamily="34" charset="-128"/>
        </a:defRPr>
      </a:lvl9pPr>
    </p:titleStyle>
    <p:bodyStyle>
      <a:lvl1pPr marL="339725" indent="-339725" algn="l" defTabSz="457200" rtl="0" eaLnBrk="0" fontAlgn="base" hangingPunct="0">
        <a:lnSpc>
          <a:spcPct val="87000"/>
        </a:lnSpc>
        <a:spcBef>
          <a:spcPts val="600"/>
        </a:spcBef>
        <a:spcAft>
          <a:spcPct val="0"/>
        </a:spcAft>
        <a:buClr>
          <a:srgbClr val="00007D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39775" indent="-282575" algn="l" defTabSz="457200" rtl="0" eaLnBrk="0" fontAlgn="base" hangingPunct="0">
        <a:lnSpc>
          <a:spcPct val="87000"/>
        </a:lnSpc>
        <a:spcBef>
          <a:spcPts val="600"/>
        </a:spcBef>
        <a:spcAft>
          <a:spcPct val="0"/>
        </a:spcAft>
        <a:buClr>
          <a:srgbClr val="9999CC"/>
        </a:buClr>
        <a:buSzPct val="80000"/>
        <a:buFont typeface="Wingdings" pitchFamily="2" charset="2"/>
        <a:buChar char=""/>
        <a:defRPr sz="2400">
          <a:solidFill>
            <a:srgbClr val="000000"/>
          </a:solidFill>
          <a:latin typeface="+mn-lt"/>
          <a:ea typeface="+mn-ea"/>
        </a:defRPr>
      </a:lvl2pPr>
      <a:lvl3pPr marL="1143000" indent="-228600" algn="l" defTabSz="457200" rtl="0" eaLnBrk="0" fontAlgn="base" hangingPunct="0">
        <a:lnSpc>
          <a:spcPct val="87000"/>
        </a:lnSpc>
        <a:spcBef>
          <a:spcPts val="600"/>
        </a:spcBef>
        <a:spcAft>
          <a:spcPct val="0"/>
        </a:spcAft>
        <a:buClr>
          <a:srgbClr val="00007D"/>
        </a:buClr>
        <a:buSzPct val="6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57200" rtl="0" eaLnBrk="0" fontAlgn="base" hangingPunct="0">
        <a:lnSpc>
          <a:spcPct val="87000"/>
        </a:lnSpc>
        <a:spcBef>
          <a:spcPts val="500"/>
        </a:spcBef>
        <a:spcAft>
          <a:spcPct val="0"/>
        </a:spcAft>
        <a:buClr>
          <a:srgbClr val="9999CC"/>
        </a:buClr>
        <a:buSzPct val="70000"/>
        <a:buFont typeface="Wingdings" pitchFamily="2" charset="2"/>
        <a:buChar char="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57200" rtl="0" eaLnBrk="0" fontAlgn="base" hangingPunct="0">
        <a:lnSpc>
          <a:spcPct val="87000"/>
        </a:lnSpc>
        <a:spcBef>
          <a:spcPts val="500"/>
        </a:spcBef>
        <a:spcAft>
          <a:spcPct val="0"/>
        </a:spcAft>
        <a:buClr>
          <a:srgbClr val="9999CC"/>
        </a:buClr>
        <a:buSzPct val="100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57200" rtl="0" fontAlgn="base">
        <a:lnSpc>
          <a:spcPct val="87000"/>
        </a:lnSpc>
        <a:spcBef>
          <a:spcPts val="500"/>
        </a:spcBef>
        <a:spcAft>
          <a:spcPct val="0"/>
        </a:spcAft>
        <a:buClr>
          <a:srgbClr val="9999CC"/>
        </a:buClr>
        <a:buSzPct val="100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57200" rtl="0" fontAlgn="base">
        <a:lnSpc>
          <a:spcPct val="87000"/>
        </a:lnSpc>
        <a:spcBef>
          <a:spcPts val="500"/>
        </a:spcBef>
        <a:spcAft>
          <a:spcPct val="0"/>
        </a:spcAft>
        <a:buClr>
          <a:srgbClr val="9999CC"/>
        </a:buClr>
        <a:buSzPct val="100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57200" rtl="0" fontAlgn="base">
        <a:lnSpc>
          <a:spcPct val="87000"/>
        </a:lnSpc>
        <a:spcBef>
          <a:spcPts val="500"/>
        </a:spcBef>
        <a:spcAft>
          <a:spcPct val="0"/>
        </a:spcAft>
        <a:buClr>
          <a:srgbClr val="9999CC"/>
        </a:buClr>
        <a:buSzPct val="100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57200" rtl="0" fontAlgn="base">
        <a:lnSpc>
          <a:spcPct val="87000"/>
        </a:lnSpc>
        <a:spcBef>
          <a:spcPts val="500"/>
        </a:spcBef>
        <a:spcAft>
          <a:spcPct val="0"/>
        </a:spcAft>
        <a:buClr>
          <a:srgbClr val="9999CC"/>
        </a:buClr>
        <a:buSzPct val="100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934200"/>
          </a:xfrm>
          <a:prstGeom prst="rect">
            <a:avLst/>
          </a:prstGeom>
        </p:spPr>
      </p:pic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1066799" y="2088481"/>
            <a:ext cx="7010400" cy="84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rgbClr val="93741D"/>
                </a:solidFill>
                <a:cs typeface="Arial" panose="020B0604020202020204" pitchFamily="34" charset="0"/>
              </a:rPr>
              <a:t>Project Title:</a:t>
            </a:r>
          </a:p>
          <a:p>
            <a:pPr algn="ctr">
              <a:defRPr/>
            </a:pPr>
            <a:r>
              <a:rPr lang="en-US" b="1" i="0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BALANCEBITE</a:t>
            </a:r>
            <a:endParaRPr lang="en-US" sz="2800" b="1" i="0" dirty="0">
              <a:solidFill>
                <a:schemeClr val="accent2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0" name="Content Placeholder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74305" y="616572"/>
            <a:ext cx="1195388" cy="1276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1066800" y="3124200"/>
            <a:ext cx="7010400" cy="291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93741D"/>
                </a:solidFill>
                <a:cs typeface="Arial" panose="020B0604020202020204" pitchFamily="34" charset="0"/>
              </a:rPr>
              <a:t>Group Members:</a:t>
            </a:r>
          </a:p>
          <a:p>
            <a:pPr algn="ctr">
              <a:defRPr/>
            </a:pPr>
            <a:endParaRPr lang="en-US" dirty="0">
              <a:solidFill>
                <a:srgbClr val="93741D"/>
              </a:solidFill>
              <a:latin typeface="Baskerville Old Face" pitchFamily="18" charset="0"/>
            </a:endParaRPr>
          </a:p>
          <a:p>
            <a:pPr algn="ctr">
              <a:defRPr/>
            </a:pP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Syeda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Fizza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Batool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 Zaidi (02-136212-043)</a:t>
            </a:r>
          </a:p>
          <a:p>
            <a:pPr algn="ctr">
              <a:defRPr/>
            </a:pP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Bisma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 Hashmi (02-136212-005)</a:t>
            </a:r>
          </a:p>
          <a:p>
            <a:pPr algn="ctr"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Aleena Ahmed (02-136212-002)</a:t>
            </a:r>
          </a:p>
          <a:p>
            <a:pPr algn="ctr">
              <a:defRPr/>
            </a:pPr>
            <a:endParaRPr lang="en-US" b="1" i="0" baseline="0" dirty="0">
              <a:solidFill>
                <a:schemeClr val="accent2">
                  <a:lumMod val="50000"/>
                </a:schemeClr>
              </a:solidFill>
              <a:latin typeface="Baskerville Old Face" pitchFamily="18" charset="0"/>
            </a:endParaRPr>
          </a:p>
          <a:p>
            <a:pPr algn="ctr">
              <a:defRPr/>
            </a:pPr>
            <a:r>
              <a:rPr lang="en-US" b="1" dirty="0">
                <a:solidFill>
                  <a:srgbClr val="93741D"/>
                </a:solidFill>
                <a:cs typeface="Arial" panose="020B0604020202020204" pitchFamily="34" charset="0"/>
              </a:rPr>
              <a:t>Supervisor:</a:t>
            </a:r>
          </a:p>
          <a:p>
            <a:pPr algn="ctr">
              <a:defRPr/>
            </a:pPr>
            <a:endParaRPr lang="en-US" dirty="0">
              <a:solidFill>
                <a:srgbClr val="93741D"/>
              </a:solidFill>
              <a:latin typeface="Baskerville Old Face" pitchFamily="18" charset="0"/>
            </a:endParaRPr>
          </a:p>
          <a:p>
            <a:pPr algn="ctr">
              <a:defRPr/>
            </a:pP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Dr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Taha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Jilani</a:t>
            </a:r>
            <a:endParaRPr lang="en-US" b="1" dirty="0">
              <a:solidFill>
                <a:schemeClr val="accent2">
                  <a:lumMod val="50000"/>
                </a:schemeClr>
              </a:solidFill>
              <a:cs typeface="Arial" panose="020B0604020202020204" pitchFamily="34" charset="0"/>
            </a:endParaRPr>
          </a:p>
          <a:p>
            <a:pPr algn="ctr">
              <a:defRPr/>
            </a:pPr>
            <a:endParaRPr lang="en-US" b="1" dirty="0">
              <a:solidFill>
                <a:srgbClr val="93741D"/>
              </a:solidFill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b="1" dirty="0">
                <a:solidFill>
                  <a:schemeClr val="accent2">
                    <a:lumMod val="50000"/>
                  </a:schemeClr>
                </a:solidFill>
                <a:cs typeface="Arial" panose="020B0604020202020204" pitchFamily="34" charset="0"/>
              </a:rPr>
              <a:t>Computer Science Department</a:t>
            </a:r>
          </a:p>
          <a:p>
            <a:pPr algn="ctr">
              <a:defRPr/>
            </a:pPr>
            <a:endParaRPr lang="en-US" sz="1300" i="0" dirty="0">
              <a:solidFill>
                <a:schemeClr val="accent2">
                  <a:lumMod val="50000"/>
                </a:schemeClr>
              </a:solidFill>
              <a:latin typeface="Baskerville Old Fac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54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800" y="188640"/>
            <a:ext cx="3034680" cy="1027584"/>
          </a:xfrm>
        </p:spPr>
        <p:txBody>
          <a:bodyPr/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Overview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4525963"/>
          </a:xfrm>
        </p:spPr>
        <p:txBody>
          <a:bodyPr>
            <a:normAutofit/>
          </a:bodyPr>
          <a:lstStyle/>
          <a:p>
            <a:pPr marL="469900" indent="-469900" algn="just" eaLnBrk="1" hangingPunct="1">
              <a:buFont typeface="Wingdings" pitchFamily="2" charset="2"/>
              <a:buChar char="Ø"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Introduction </a:t>
            </a:r>
          </a:p>
          <a:p>
            <a:pPr marL="469900" indent="-469900" algn="just" eaLnBrk="1" hangingPunct="1">
              <a:buFont typeface="Wingdings" pitchFamily="2" charset="2"/>
              <a:buChar char="Ø"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Background</a:t>
            </a:r>
          </a:p>
          <a:p>
            <a:pPr marL="469900" indent="-469900" algn="just" eaLnBrk="1" hangingPunct="1">
              <a:buFont typeface="Wingdings" pitchFamily="2" charset="2"/>
              <a:buChar char="Ø"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Motivation</a:t>
            </a:r>
          </a:p>
          <a:p>
            <a:pPr marL="469900" indent="-469900" algn="just" eaLnBrk="1" hangingPunct="1">
              <a:buFont typeface="Wingdings" pitchFamily="2" charset="2"/>
              <a:buChar char="Ø"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Problem Statement</a:t>
            </a:r>
          </a:p>
          <a:p>
            <a:pPr marL="469900" indent="-469900" algn="just" eaLnBrk="1" hangingPunct="1">
              <a:buFont typeface="Wingdings" pitchFamily="2" charset="2"/>
              <a:buChar char="Ø"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Scope of the Project </a:t>
            </a:r>
          </a:p>
          <a:p>
            <a:pPr marL="469900" indent="-469900" algn="just" eaLnBrk="1" hangingPunct="1">
              <a:buFont typeface="Wingdings" pitchFamily="2" charset="2"/>
              <a:buChar char="Ø"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Project Objectives</a:t>
            </a:r>
          </a:p>
          <a:p>
            <a:pPr marL="469900" indent="-469900" algn="just" eaLnBrk="1" hangingPunct="1">
              <a:buFont typeface="Wingdings" pitchFamily="2" charset="2"/>
              <a:buChar char="Ø"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Methodology/Framework</a:t>
            </a:r>
          </a:p>
          <a:p>
            <a:pPr marL="469900" indent="-469900" algn="just" eaLnBrk="1" hangingPunct="1">
              <a:buFont typeface="Wingdings" pitchFamily="2" charset="2"/>
              <a:buChar char="Ø"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Tools and Languages</a:t>
            </a:r>
          </a:p>
          <a:p>
            <a:pPr marL="469900" indent="-469900" algn="just" eaLnBrk="1" hangingPunct="1">
              <a:buFont typeface="Wingdings" pitchFamily="2" charset="2"/>
              <a:buChar char="Ø"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Conclusion</a:t>
            </a:r>
          </a:p>
          <a:p>
            <a:pPr marL="469900" indent="-469900" algn="just" eaLnBrk="1" hangingPunct="1">
              <a:buFont typeface="Wingdings" pitchFamily="2" charset="2"/>
              <a:buChar char="Ø"/>
            </a:pPr>
            <a:r>
              <a:rPr lang="en-US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References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FD4286-8CF9-4C0A-A020-54863B23E26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36374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" y="44624"/>
            <a:ext cx="3250704" cy="883568"/>
          </a:xfrm>
        </p:spPr>
        <p:txBody>
          <a:bodyPr/>
          <a:lstStyle/>
          <a:p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Introduction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FD4286-8CF9-4C0A-A020-54863B23E26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79512" y="1052736"/>
            <a:ext cx="878497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Obesity is a growing global concern, with Pakistan seeing a 50% obesity rate [1].</a:t>
            </a: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Rising mobile technology use, with over 193 million cellphone users in Pakistan, offers a promising opportunity for health solutions [2].</a:t>
            </a:r>
          </a:p>
          <a:p>
            <a:pPr marL="285750" lvl="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BalanceBite project proposes an AI-driven mobile app designed to track dietary habits, calories, and physical activities, focusing on South-Asian users.</a:t>
            </a: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Smart fitness and meal tracking application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Combines AI, Flutter, and expert input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Inspired by MyFitnessPal and CalorieMama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Target audience: South Asian fitness and health-conscious users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tx1"/>
              </a:solidFill>
            </a:endParaRPr>
          </a:p>
          <a:p>
            <a:pPr marL="28575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1313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31" y="184666"/>
            <a:ext cx="5050904" cy="1009973"/>
          </a:xfrm>
        </p:spPr>
        <p:txBody>
          <a:bodyPr/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Background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2365" y="1052736"/>
            <a:ext cx="885093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Worldwide obesity rates have tripled since 1975, with over 1.9 billion adults being overweight or obese, and Pakistan shows alarming obesity levels [1].</a:t>
            </a:r>
          </a:p>
          <a:p>
            <a:pPr marL="285750" lvl="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increase in mobile phone usage in Pakistan, with </a:t>
            </a:r>
            <a:r>
              <a:rPr lang="en-US" dirty="0" err="1">
                <a:solidFill>
                  <a:schemeClr val="tx1"/>
                </a:solidFill>
              </a:rPr>
              <a:t>tele</a:t>
            </a:r>
            <a:r>
              <a:rPr lang="en-US" dirty="0">
                <a:solidFill>
                  <a:schemeClr val="tx1"/>
                </a:solidFill>
              </a:rPr>
              <a:t>-density reaching 79.46%, presents an opportunity to leverage technology for obesity management [2].</a:t>
            </a:r>
          </a:p>
          <a:p>
            <a:pPr marL="285750" lvl="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algn="just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Existing mobile health applications lack cultural relevance for South-Asian users, a gap </a:t>
            </a:r>
            <a:r>
              <a:rPr lang="en-US" dirty="0" err="1">
                <a:solidFill>
                  <a:schemeClr val="tx1"/>
                </a:solidFill>
              </a:rPr>
              <a:t>BalanceBite</a:t>
            </a:r>
            <a:r>
              <a:rPr lang="en-US" dirty="0">
                <a:solidFill>
                  <a:schemeClr val="tx1"/>
                </a:solidFill>
              </a:rPr>
              <a:t> aims to address by focusing on their dietary habits and activities. </a:t>
            </a:r>
          </a:p>
        </p:txBody>
      </p:sp>
    </p:spTree>
    <p:extLst>
      <p:ext uri="{BB962C8B-B14F-4D97-AF65-F5344CB8AC3E}">
        <p14:creationId xmlns:p14="http://schemas.microsoft.com/office/powerpoint/2010/main" val="1599616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1" y="78641"/>
            <a:ext cx="2448272" cy="883568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Motivation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FD4286-8CF9-4C0A-A020-54863B23E26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980728"/>
            <a:ext cx="8712968" cy="574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need for an effective solution to combat obesity in Pakistan, which can lead to severe health complications.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646" y="1014889"/>
            <a:ext cx="897155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need for an effective solution to combat obesity in Pakistan, which can lead to severe health complications.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Existing calorie-tracking apps are skewed towards Western diets, making them less effective for South-Asian users.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Developing a culturally tailored mobile application can help fill this gap and provide personalized health recommendations for users. </a:t>
            </a:r>
          </a:p>
        </p:txBody>
      </p:sp>
    </p:spTree>
    <p:extLst>
      <p:ext uri="{BB962C8B-B14F-4D97-AF65-F5344CB8AC3E}">
        <p14:creationId xmlns:p14="http://schemas.microsoft.com/office/powerpoint/2010/main" val="156362185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2" y="0"/>
            <a:ext cx="4114798" cy="906462"/>
          </a:xfrm>
        </p:spPr>
        <p:txBody>
          <a:bodyPr>
            <a:norm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FD4286-8CF9-4C0A-A020-54863B23E26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0012" y="1052736"/>
            <a:ext cx="8432105" cy="458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Pakistan’s high obesity rate necessitates a solution to monitor and manage dietary habits and physical activities.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Current mobile applications do not adequately serve South-Asian populations, requiring the creation of a tailored app that can provide personalized health insights. 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Many fitness apps do not work well for South Asian food and lifestyle. They miss local dishes, give common meal plans, and don’t track progress using phone sensors. Users need a smart app that</a:t>
            </a:r>
            <a:r>
              <a:rPr lang="en-US" dirty="0">
                <a:solidFill>
                  <a:schemeClr val="tx1"/>
                </a:solidFill>
              </a:rPr>
              <a:t>: </a:t>
            </a:r>
          </a:p>
          <a:p>
            <a:pPr marL="342900" lvl="0" indent="-342900" defTabSz="914400" eaLnBrk="0" hangingPunct="0">
              <a:lnSpc>
                <a:spcPct val="100000"/>
              </a:lnSpc>
              <a:buClrTx/>
              <a:buSzTx/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Understands South Asian meals</a:t>
            </a:r>
            <a:endParaRPr lang="en-US" dirty="0">
              <a:solidFill>
                <a:schemeClr val="tx1"/>
              </a:solidFill>
            </a:endParaRPr>
          </a:p>
          <a:p>
            <a:pPr marL="342900" lvl="0" indent="-342900" defTabSz="914400" eaLnBrk="0" hangingPunct="0">
              <a:lnSpc>
                <a:spcPct val="100000"/>
              </a:lnSpc>
              <a:buClrTx/>
              <a:buSzTx/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Tracks fitness using phone sensors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</a:rPr>
              <a:t>Gives meal and workout plans based on goals and BMI</a:t>
            </a:r>
            <a:r>
              <a:rPr lang="en-US" dirty="0">
                <a:solidFill>
                  <a:schemeClr val="tx1"/>
                </a:solidFill>
              </a:rPr>
              <a:t> also</a:t>
            </a:r>
            <a:r>
              <a:rPr lang="en-GB" dirty="0">
                <a:solidFill>
                  <a:schemeClr val="tx1"/>
                </a:solidFill>
              </a:rPr>
              <a:t> checked by real experts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y rate</a:t>
            </a:r>
          </a:p>
        </p:txBody>
      </p:sp>
    </p:spTree>
    <p:extLst>
      <p:ext uri="{BB962C8B-B14F-4D97-AF65-F5344CB8AC3E}">
        <p14:creationId xmlns:p14="http://schemas.microsoft.com/office/powerpoint/2010/main" val="138148348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65" y="65858"/>
            <a:ext cx="4893694" cy="708556"/>
          </a:xfrm>
        </p:spPr>
        <p:txBody>
          <a:bodyPr/>
          <a:lstStyle/>
          <a:p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Scope of the Project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FD4286-8CF9-4C0A-A020-54863B23E26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4731" y="774414"/>
            <a:ext cx="864054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Develop an AI-powered mobile application using Flutter, focusing on South-Asian dietary habits and culture.</a:t>
            </a:r>
          </a:p>
          <a:p>
            <a:pPr lvl="0" defTabSz="914400" eaLnBrk="0" hangingPunct="0">
              <a:lnSpc>
                <a:spcPct val="100000"/>
              </a:lnSpc>
              <a:buClrTx/>
              <a:buSzTx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Integrate AI models for food image recognition and calorie tracking.</a:t>
            </a:r>
          </a:p>
          <a:p>
            <a:pPr lvl="0" defTabSz="914400" eaLnBrk="0" hangingPunct="0">
              <a:lnSpc>
                <a:spcPct val="100000"/>
              </a:lnSpc>
              <a:buClrTx/>
              <a:buSzTx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 features like activity tracking and real-time personalized health recommendations. 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Detect South Asian foods using AI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Track steps and activity with phone sensors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Give expert-checked meal and workout plans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Show “no food” if the plate is empty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55853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65" y="142330"/>
            <a:ext cx="4893694" cy="708556"/>
          </a:xfrm>
        </p:spPr>
        <p:txBody>
          <a:bodyPr/>
          <a:lstStyle/>
          <a:p>
            <a:pPr algn="just" eaLnBrk="1" hangingPunct="1"/>
            <a:r>
              <a:rPr 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Project Objectives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FD4286-8CF9-4C0A-A020-54863B23E26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365" y="1052736"/>
            <a:ext cx="89018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Build a comprehensive database of South-Asian macronutrient information.</a:t>
            </a:r>
          </a:p>
          <a:p>
            <a:pPr lvl="0" defTabSz="914400" eaLnBrk="0" hangingPunct="0">
              <a:lnSpc>
                <a:spcPct val="100000"/>
              </a:lnSpc>
              <a:buClrTx/>
              <a:buSzTx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 AI-driven food image recognition to estimate calories and nutrients.</a:t>
            </a:r>
          </a:p>
          <a:p>
            <a:pPr lvl="0" defTabSz="914400" eaLnBrk="0" hangingPunct="0">
              <a:lnSpc>
                <a:spcPct val="100000"/>
              </a:lnSpc>
              <a:buClrTx/>
              <a:buSzTx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Develop a system for tracking physical activities and estimating calories burned.</a:t>
            </a:r>
          </a:p>
          <a:p>
            <a:pPr lvl="0" defTabSz="914400" eaLnBrk="0" hangingPunct="0">
              <a:lnSpc>
                <a:spcPct val="100000"/>
              </a:lnSpc>
              <a:buClrTx/>
              <a:buSzTx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Provide personalized dietary and exercise recommendations. 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Suggest meals based on user BMI and goals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Track activity using phone sensors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Create a user-friendly and interactive app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Provide expert-approved meal and </a:t>
            </a:r>
            <a:r>
              <a:rPr lang="en-GB" dirty="0" err="1">
                <a:solidFill>
                  <a:schemeClr val="tx1"/>
                </a:solidFill>
              </a:rPr>
              <a:t>workou</a:t>
            </a:r>
            <a:r>
              <a:rPr lang="en-US" dirty="0">
                <a:solidFill>
                  <a:schemeClr val="tx1"/>
                </a:solidFill>
              </a:rPr>
              <a:t>t.</a:t>
            </a:r>
            <a:endParaRPr lang="en-GB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50841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grpSp>
        <p:nvGrpSpPr>
          <p:cNvPr id="32" name="Group 31"/>
          <p:cNvGrpSpPr/>
          <p:nvPr/>
        </p:nvGrpSpPr>
        <p:grpSpPr>
          <a:xfrm>
            <a:off x="395536" y="116632"/>
            <a:ext cx="2775130" cy="2055803"/>
            <a:chOff x="395536" y="116632"/>
            <a:chExt cx="2775130" cy="205580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16632"/>
              <a:ext cx="981646" cy="205580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7664" y="116632"/>
              <a:ext cx="1623002" cy="2055803"/>
            </a:xfrm>
            <a:prstGeom prst="rect">
              <a:avLst/>
            </a:prstGeom>
          </p:spPr>
        </p:pic>
      </p:grpSp>
      <p:grpSp>
        <p:nvGrpSpPr>
          <p:cNvPr id="34" name="Group 33"/>
          <p:cNvGrpSpPr/>
          <p:nvPr/>
        </p:nvGrpSpPr>
        <p:grpSpPr>
          <a:xfrm>
            <a:off x="4731509" y="0"/>
            <a:ext cx="4019636" cy="2330602"/>
            <a:chOff x="4731509" y="0"/>
            <a:chExt cx="4019636" cy="2330602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1509" y="137673"/>
              <a:ext cx="2076881" cy="2076881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5"/>
            <a:srcRect l="15983" r="12835"/>
            <a:stretch/>
          </p:blipFill>
          <p:spPr>
            <a:xfrm>
              <a:off x="6553200" y="0"/>
              <a:ext cx="2197945" cy="2330602"/>
            </a:xfrm>
            <a:prstGeom prst="rect">
              <a:avLst/>
            </a:prstGeom>
          </p:spPr>
        </p:pic>
      </p:grpSp>
      <p:grpSp>
        <p:nvGrpSpPr>
          <p:cNvPr id="35" name="Group 34"/>
          <p:cNvGrpSpPr/>
          <p:nvPr/>
        </p:nvGrpSpPr>
        <p:grpSpPr>
          <a:xfrm>
            <a:off x="439507" y="3104707"/>
            <a:ext cx="3215803" cy="2289987"/>
            <a:chOff x="439507" y="3104707"/>
            <a:chExt cx="3215803" cy="2289987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9507" y="3175362"/>
              <a:ext cx="2216313" cy="2216313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7"/>
            <a:srcRect l="22030" r="17378"/>
            <a:stretch/>
          </p:blipFill>
          <p:spPr>
            <a:xfrm>
              <a:off x="2267744" y="3104707"/>
              <a:ext cx="1387566" cy="2289987"/>
            </a:xfrm>
            <a:prstGeom prst="rect">
              <a:avLst/>
            </a:prstGeom>
          </p:spPr>
        </p:pic>
      </p:grpSp>
      <p:sp>
        <p:nvSpPr>
          <p:cNvPr id="18" name="Rectangle 17"/>
          <p:cNvSpPr/>
          <p:nvPr/>
        </p:nvSpPr>
        <p:spPr>
          <a:xfrm>
            <a:off x="1002039" y="5406106"/>
            <a:ext cx="4634669" cy="306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Figure 3: Eva cooking oil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52606" y="2375624"/>
            <a:ext cx="3131019" cy="333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Figure 2: </a:t>
            </a:r>
            <a:r>
              <a:rPr lang="en-US" sz="1600" dirty="0" err="1">
                <a:solidFill>
                  <a:schemeClr val="tx1"/>
                </a:solidFill>
              </a:rPr>
              <a:t>Dalda</a:t>
            </a:r>
            <a:r>
              <a:rPr lang="en-US" sz="1600" dirty="0">
                <a:solidFill>
                  <a:schemeClr val="tx1"/>
                </a:solidFill>
              </a:rPr>
              <a:t> cooking oil </a:t>
            </a:r>
            <a:r>
              <a:rPr lang="en-US" dirty="0"/>
              <a:t>oil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747" y="2402361"/>
            <a:ext cx="4634669" cy="306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Figure 1: </a:t>
            </a:r>
            <a:r>
              <a:rPr lang="en-US" sz="1600" dirty="0" err="1">
                <a:solidFill>
                  <a:schemeClr val="tx1"/>
                </a:solidFill>
              </a:rPr>
              <a:t>Dalda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banaspati</a:t>
            </a:r>
            <a:r>
              <a:rPr lang="en-US" sz="1600" dirty="0">
                <a:solidFill>
                  <a:schemeClr val="tx1"/>
                </a:solidFill>
              </a:rPr>
              <a:t> vegetable ghee</a:t>
            </a:r>
          </a:p>
        </p:txBody>
      </p:sp>
    </p:spTree>
    <p:extLst>
      <p:ext uri="{BB962C8B-B14F-4D97-AF65-F5344CB8AC3E}">
        <p14:creationId xmlns:p14="http://schemas.microsoft.com/office/powerpoint/2010/main" val="1751778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-27384"/>
            <a:ext cx="5679512" cy="708556"/>
          </a:xfrm>
        </p:spPr>
        <p:txBody>
          <a:bodyPr/>
          <a:lstStyle/>
          <a:p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Methodology/Framework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FD4286-8CF9-4C0A-A020-54863B23E26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697401" y="3262352"/>
            <a:ext cx="1749197" cy="333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88248" y="633623"/>
            <a:ext cx="7511519" cy="81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b="1" dirty="0">
                <a:solidFill>
                  <a:schemeClr val="tx1"/>
                </a:solidFill>
              </a:rPr>
              <a:t>Data Collection</a:t>
            </a:r>
          </a:p>
          <a:p>
            <a:pPr lvl="0" algn="ctr"/>
            <a:r>
              <a:rPr lang="en-US" dirty="0">
                <a:solidFill>
                  <a:schemeClr val="tx1"/>
                </a:solidFill>
              </a:rPr>
              <a:t>(Gather images and macronutrient information for South-Asian cuisine)</a:t>
            </a:r>
          </a:p>
          <a:p>
            <a:r>
              <a:rPr lang="en-US" dirty="0"/>
              <a:t>Gather images and Asian cuisine.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447" y="1635284"/>
            <a:ext cx="79491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eaLnBrk="0" hangingPunct="0">
              <a:lnSpc>
                <a:spcPct val="100000"/>
              </a:lnSpc>
              <a:buClrTx/>
              <a:buSzTx/>
            </a:pPr>
            <a:r>
              <a:rPr lang="en-US" b="1" dirty="0">
                <a:solidFill>
                  <a:schemeClr val="tx1"/>
                </a:solidFill>
              </a:rPr>
              <a:t>AI Integration</a:t>
            </a:r>
          </a:p>
          <a:p>
            <a:pPr lvl="0" algn="ctr" defTabSz="914400" eaLnBrk="0" hangingPunct="0">
              <a:lnSpc>
                <a:spcPct val="100000"/>
              </a:lnSpc>
              <a:buClrTx/>
              <a:buSzTx/>
            </a:pPr>
            <a:r>
              <a:rPr lang="en-US" dirty="0">
                <a:solidFill>
                  <a:schemeClr val="tx1"/>
                </a:solidFill>
              </a:rPr>
              <a:t>(Use convolutional neural networks (CNNs) for food recognition and caloric estimation)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424" y="2888651"/>
            <a:ext cx="8381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eaLnBrk="0" hangingPunct="0">
              <a:lnSpc>
                <a:spcPct val="100000"/>
              </a:lnSpc>
              <a:buClrTx/>
              <a:buSzTx/>
            </a:pPr>
            <a:r>
              <a:rPr lang="en-US" b="1" dirty="0">
                <a:solidFill>
                  <a:schemeClr val="tx1"/>
                </a:solidFill>
              </a:rPr>
              <a:t>Interface Design</a:t>
            </a:r>
            <a:endParaRPr lang="en-US" dirty="0">
              <a:solidFill>
                <a:schemeClr val="tx1"/>
              </a:solidFill>
            </a:endParaRPr>
          </a:p>
          <a:p>
            <a:pPr lvl="0" algn="ctr" defTabSz="914400" eaLnBrk="0" hangingPunct="0">
              <a:lnSpc>
                <a:spcPct val="100000"/>
              </a:lnSpc>
              <a:buClrTx/>
              <a:buSzTx/>
            </a:pPr>
            <a:r>
              <a:rPr lang="en-US" dirty="0">
                <a:solidFill>
                  <a:schemeClr val="tx1"/>
                </a:solidFill>
              </a:rPr>
              <a:t>(Develop a user-friendly interface tailored for South-Asian users using Flutter)</a:t>
            </a:r>
          </a:p>
        </p:txBody>
      </p:sp>
      <p:sp>
        <p:nvSpPr>
          <p:cNvPr id="14" name="Arrow: Down 8">
            <a:extLst>
              <a:ext uri="{FF2B5EF4-FFF2-40B4-BE49-F238E27FC236}">
                <a16:creationId xmlns:a16="http://schemas.microsoft.com/office/drawing/2014/main" id="{DED5D025-1D28-4656-8F7C-BDF24D64BFE3}"/>
              </a:ext>
            </a:extLst>
          </p:cNvPr>
          <p:cNvSpPr/>
          <p:nvPr/>
        </p:nvSpPr>
        <p:spPr bwMode="auto">
          <a:xfrm>
            <a:off x="4355976" y="1196752"/>
            <a:ext cx="288032" cy="442241"/>
          </a:xfrm>
          <a:prstGeom prst="down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5" name="Arrow: Down 8">
            <a:extLst>
              <a:ext uri="{FF2B5EF4-FFF2-40B4-BE49-F238E27FC236}">
                <a16:creationId xmlns:a16="http://schemas.microsoft.com/office/drawing/2014/main" id="{DED5D025-1D28-4656-8F7C-BDF24D64BFE3}"/>
              </a:ext>
            </a:extLst>
          </p:cNvPr>
          <p:cNvSpPr/>
          <p:nvPr/>
        </p:nvSpPr>
        <p:spPr bwMode="auto">
          <a:xfrm>
            <a:off x="4355976" y="2492896"/>
            <a:ext cx="288032" cy="442241"/>
          </a:xfrm>
          <a:prstGeom prst="down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6" name="Arrow: Down 8">
            <a:extLst>
              <a:ext uri="{FF2B5EF4-FFF2-40B4-BE49-F238E27FC236}">
                <a16:creationId xmlns:a16="http://schemas.microsoft.com/office/drawing/2014/main" id="{DED5D025-1D28-4656-8F7C-BDF24D64BFE3}"/>
              </a:ext>
            </a:extLst>
          </p:cNvPr>
          <p:cNvSpPr/>
          <p:nvPr/>
        </p:nvSpPr>
        <p:spPr bwMode="auto">
          <a:xfrm>
            <a:off x="4355976" y="3501008"/>
            <a:ext cx="288032" cy="442241"/>
          </a:xfrm>
          <a:prstGeom prst="down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6608" y="3928286"/>
            <a:ext cx="7927017" cy="815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Activity Tracking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(Use smartphone sensors like accelerometers and gyroscopes to monitor activities)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35710" y="5136813"/>
            <a:ext cx="88725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eaLnBrk="0" hangingPunct="0">
              <a:lnSpc>
                <a:spcPct val="100000"/>
              </a:lnSpc>
              <a:buClrTx/>
              <a:buSzTx/>
            </a:pPr>
            <a:r>
              <a:rPr lang="en-US" b="1" dirty="0">
                <a:solidFill>
                  <a:schemeClr val="tx1"/>
                </a:solidFill>
              </a:rPr>
              <a:t>Testing</a:t>
            </a:r>
          </a:p>
          <a:p>
            <a:pPr lvl="0" algn="ctr" defTabSz="914400" eaLnBrk="0" hangingPunct="0">
              <a:lnSpc>
                <a:spcPct val="100000"/>
              </a:lnSpc>
              <a:buClrTx/>
              <a:buSzTx/>
            </a:pPr>
            <a:r>
              <a:rPr lang="en-US" dirty="0">
                <a:solidFill>
                  <a:schemeClr val="tx1"/>
                </a:solidFill>
              </a:rPr>
              <a:t>(Conduct rigorous testing and incorporate user feedback for continuous improvement)</a:t>
            </a:r>
          </a:p>
        </p:txBody>
      </p:sp>
      <p:sp>
        <p:nvSpPr>
          <p:cNvPr id="19" name="Arrow: Down 8">
            <a:extLst>
              <a:ext uri="{FF2B5EF4-FFF2-40B4-BE49-F238E27FC236}">
                <a16:creationId xmlns:a16="http://schemas.microsoft.com/office/drawing/2014/main" id="{DED5D025-1D28-4656-8F7C-BDF24D64BFE3}"/>
              </a:ext>
            </a:extLst>
          </p:cNvPr>
          <p:cNvSpPr/>
          <p:nvPr/>
        </p:nvSpPr>
        <p:spPr bwMode="auto">
          <a:xfrm>
            <a:off x="4355976" y="4725144"/>
            <a:ext cx="288032" cy="442241"/>
          </a:xfrm>
          <a:prstGeom prst="downArrow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842821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179512" y="188640"/>
            <a:ext cx="4824536" cy="574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9512" y="908720"/>
            <a:ext cx="8784976" cy="333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South-Asian specific dataset</a:t>
            </a:r>
            <a:r>
              <a:rPr lang="en-US" dirty="0">
                <a:solidFill>
                  <a:schemeClr val="tx1"/>
                </a:solidFill>
              </a:rPr>
              <a:t> for food items, including macronutrient information.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08" y="1733164"/>
            <a:ext cx="1755800" cy="30970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2469920" y="1733164"/>
            <a:ext cx="6160135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0" y="4786490"/>
            <a:ext cx="464261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a typeface="MS Mincho"/>
                <a:cs typeface="Arial" panose="020B0604020202020204" pitchFamily="34" charset="0"/>
              </a:rPr>
              <a:t>Figure 4: Nutrition Fact Database 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[12] [13]</a:t>
            </a:r>
            <a:r>
              <a:rPr lang="en-US" dirty="0">
                <a:solidFill>
                  <a:schemeClr val="tx1"/>
                </a:solidFill>
                <a:ea typeface="MS Mincho"/>
                <a:cs typeface="Arial" panose="020B0604020202020204" pitchFamily="34" charset="0"/>
              </a:rPr>
              <a:t>   </a:t>
            </a:r>
            <a:endParaRPr lang="en-US" dirty="0">
              <a:solidFill>
                <a:schemeClr val="tx1"/>
              </a:solidFill>
              <a:effectLst/>
              <a:ea typeface="MS Mincho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36605" y="3765984"/>
            <a:ext cx="6171457" cy="574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Figure 5: Desirable Dietary Pattern from Pakistani Foods Data </a:t>
            </a:r>
            <a:r>
              <a:rPr lang="en-US" dirty="0">
                <a:solidFill>
                  <a:schemeClr val="tx1"/>
                </a:solidFill>
              </a:rPr>
              <a:t>[13]</a:t>
            </a:r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0" y="-130805"/>
            <a:ext cx="2167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152400" y="21595"/>
            <a:ext cx="2167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100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58" y="60927"/>
            <a:ext cx="6782977" cy="22159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07725" y="2852936"/>
            <a:ext cx="6820610" cy="25744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11560" y="2276872"/>
            <a:ext cx="7178054" cy="574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Figure 6: Desirable Dietary Pattern from Pakistani Foods Data </a:t>
            </a:r>
            <a:r>
              <a:rPr lang="en-US" dirty="0">
                <a:solidFill>
                  <a:schemeClr val="tx1"/>
                </a:solidFill>
              </a:rPr>
              <a:t>[13]</a:t>
            </a:r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43596" y="5371932"/>
            <a:ext cx="481413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Figure 7: Composition for Pakistani Food </a:t>
            </a:r>
            <a:r>
              <a:rPr lang="en-US" dirty="0">
                <a:solidFill>
                  <a:schemeClr val="tx1"/>
                </a:solidFill>
              </a:rPr>
              <a:t>[16]</a:t>
            </a:r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marR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/>
              </a:solidFill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43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>
          <a:xfrm>
            <a:off x="6588224" y="6309320"/>
            <a:ext cx="2130425" cy="454025"/>
          </a:xfrm>
        </p:spPr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14536" y="249560"/>
            <a:ext cx="4117537" cy="574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Calibri" panose="020F0502020204030204" pitchFamily="34" charset="0"/>
              </a:rPr>
              <a:t>RELATED WORK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7244" y="568816"/>
            <a:ext cx="8779902" cy="1297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Current apps for tracking food and exercise often focus on Western diets, leaving a gap for South-Asian dietary needs. There’s a need for an AI-powered app tailored to South-Asian cuisine with personalized health recommendations [7] [8]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[9]</a:t>
            </a: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[10].</a:t>
            </a:r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 descr="The MyFitnessPal app's food diary with a day of food entries, calories remaining, and an intermittent fasting timer in progress.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3" t="5652" r="16666" b="8009"/>
          <a:stretch/>
        </p:blipFill>
        <p:spPr bwMode="auto">
          <a:xfrm>
            <a:off x="244047" y="1787171"/>
            <a:ext cx="1970921" cy="369634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Rectangle 7"/>
          <p:cNvSpPr/>
          <p:nvPr/>
        </p:nvSpPr>
        <p:spPr>
          <a:xfrm>
            <a:off x="107504" y="5532888"/>
            <a:ext cx="2204450" cy="4671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Figure 8: </a:t>
            </a:r>
            <a:r>
              <a:rPr lang="en-US" sz="1400" dirty="0" err="1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MyfitnessPal</a:t>
            </a:r>
            <a:r>
              <a:rPr lang="en-US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[7]</a:t>
            </a:r>
            <a:endParaRPr lang="en-US" sz="14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7" y="1771421"/>
            <a:ext cx="1903186" cy="3696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2411760" y="5517232"/>
            <a:ext cx="1973617" cy="4671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Figure 9: </a:t>
            </a:r>
            <a:r>
              <a:rPr lang="en-US" sz="1400" dirty="0" err="1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Foodvisor</a:t>
            </a:r>
            <a:r>
              <a:rPr lang="en-US" sz="1400" dirty="0">
                <a:solidFill>
                  <a:schemeClr val="tx1"/>
                </a:solidFill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[9]</a:t>
            </a:r>
            <a:endParaRPr lang="en-US" sz="14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11" name="Picture 10" descr="https://healthifyme.imgix.net/static/images/app-page/assets/desktop/Our-App-Hero.png?auto=format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2" t="3602" r="21649" b="4688"/>
          <a:stretch/>
        </p:blipFill>
        <p:spPr bwMode="auto">
          <a:xfrm>
            <a:off x="4545992" y="1760095"/>
            <a:ext cx="1883503" cy="37020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4355976" y="5517232"/>
            <a:ext cx="2319353" cy="4671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Figure 10: </a:t>
            </a:r>
            <a:r>
              <a:rPr lang="en-US" sz="1400" dirty="0" err="1">
                <a:solidFill>
                  <a:schemeClr val="tx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HealthifyMe</a:t>
            </a:r>
            <a:r>
              <a:rPr lang="en-US" sz="1400" dirty="0">
                <a:solidFill>
                  <a:schemeClr val="tx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[11]</a:t>
            </a:r>
            <a:endParaRPr lang="en-US" sz="14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7063" y="1893032"/>
            <a:ext cx="1717385" cy="35634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4" name="Rectangle 13"/>
          <p:cNvSpPr/>
          <p:nvPr/>
        </p:nvSpPr>
        <p:spPr>
          <a:xfrm>
            <a:off x="6588224" y="5517232"/>
            <a:ext cx="2647713" cy="4671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Figure 11: </a:t>
            </a:r>
            <a:r>
              <a:rPr lang="en-US" sz="1400" dirty="0" err="1">
                <a:solidFill>
                  <a:schemeClr val="tx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CalorieMama</a:t>
            </a:r>
            <a:r>
              <a:rPr lang="en-US" sz="1400" dirty="0">
                <a:solidFill>
                  <a:schemeClr val="tx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AI </a:t>
            </a:r>
            <a:r>
              <a:rPr lang="en-US" sz="1400" dirty="0">
                <a:solidFill>
                  <a:schemeClr val="tx1"/>
                </a:solidFill>
              </a:rPr>
              <a:t>[10]</a:t>
            </a:r>
            <a:endParaRPr lang="en-US" sz="14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endParaRPr lang="en-US" sz="14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2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7504" y="855200"/>
            <a:ext cx="8856984" cy="3956145"/>
          </a:xfrm>
        </p:spPr>
        <p:txBody>
          <a:bodyPr/>
          <a:lstStyle/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Flutter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For mobile application development.</a:t>
            </a:r>
          </a:p>
          <a:p>
            <a:pPr marL="0" indent="0" defTabSz="9144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AI/ML Libraries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TensorFlow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PyTorch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for food image recognition and activity tracking.</a:t>
            </a:r>
          </a:p>
          <a:p>
            <a:pPr marL="0" indent="0" defTabSz="9144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Cloud Services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For data storage and backend services.</a:t>
            </a:r>
          </a:p>
          <a:p>
            <a:pPr marL="0" indent="0" defTabSz="91440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Smartphone sensors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sz="1800" dirty="0"/>
              <a:t>Ambient Light Sensor,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Accelerometer and gyroscope for activity tracking, </a:t>
            </a:r>
            <a:r>
              <a:rPr lang="en-US" sz="1800" dirty="0"/>
              <a:t>Camera (for image recognition)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1800" dirty="0"/>
              <a:t>Similar to the example below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defTabSz="914400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-36512" y="25152"/>
            <a:ext cx="5608644" cy="109959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44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4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2pPr>
            <a:lvl3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4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3pPr>
            <a:lvl4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4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4pPr>
            <a:lvl5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4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5pPr>
            <a:lvl6pPr marL="457200" algn="l" defTabSz="457200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6pPr>
            <a:lvl7pPr marL="914400" algn="l" defTabSz="457200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7pPr>
            <a:lvl8pPr marL="1371600" algn="l" defTabSz="457200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8pPr>
            <a:lvl9pPr marL="1828800" algn="l" defTabSz="457200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defRPr sz="4400">
                <a:solidFill>
                  <a:srgbClr val="000000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sz="3600" dirty="0"/>
              <a:t>Tools and Languages</a:t>
            </a:r>
          </a:p>
        </p:txBody>
      </p:sp>
      <p:pic>
        <p:nvPicPr>
          <p:cNvPr id="7" name="Picture 6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21"/>
          <a:stretch/>
        </p:blipFill>
        <p:spPr bwMode="auto">
          <a:xfrm>
            <a:off x="3995936" y="3501008"/>
            <a:ext cx="1368152" cy="23042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0040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26425" cy="3816424"/>
          </a:xfrm>
        </p:spPr>
        <p:txBody>
          <a:bodyPr/>
          <a:lstStyle/>
          <a:p>
            <a:pPr lvl="0">
              <a:buFont typeface="Wingdings" pitchFamily="2" charset="2"/>
              <a:buChar char="Ø"/>
            </a:pPr>
            <a:endParaRPr lang="en-US" dirty="0"/>
          </a:p>
          <a:p>
            <a:pPr lvl="0">
              <a:buFont typeface="Wingdings" pitchFamily="2" charset="2"/>
              <a:buChar char="Ø"/>
            </a:pPr>
            <a:endParaRPr lang="en-GB" dirty="0"/>
          </a:p>
          <a:p>
            <a:pPr lvl="0">
              <a:buFont typeface="Wingdings" pitchFamily="2" charset="2"/>
              <a:buChar char="Ø"/>
            </a:pPr>
            <a:endParaRPr lang="en-GB" dirty="0"/>
          </a:p>
          <a:p>
            <a:pPr lvl="0"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61C4479-8E9D-F5D1-BFE9-739FAB389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6425" cy="5060032"/>
          </a:xfrm>
        </p:spPr>
        <p:txBody>
          <a:bodyPr/>
          <a:lstStyle/>
          <a:p>
            <a:r>
              <a:rPr lang="en-US" sz="2000" dirty="0">
                <a:solidFill>
                  <a:schemeClr val="accent4"/>
                </a:solidFill>
              </a:rPr>
              <a:t>TOOLS</a:t>
            </a:r>
            <a:br>
              <a:rPr lang="en-US" sz="2000" dirty="0">
                <a:solidFill>
                  <a:schemeClr val="accent4"/>
                </a:solidFill>
              </a:rPr>
            </a:br>
            <a:br>
              <a:rPr lang="en-US" sz="2000" dirty="0">
                <a:solidFill>
                  <a:schemeClr val="accent4"/>
                </a:solidFill>
              </a:rPr>
            </a:br>
            <a:br>
              <a:rPr lang="en-US" sz="2000" dirty="0">
                <a:solidFill>
                  <a:schemeClr val="accent4"/>
                </a:solidFill>
              </a:rPr>
            </a:br>
            <a:r>
              <a:rPr lang="en-GB" sz="2000" dirty="0">
                <a:solidFill>
                  <a:schemeClr val="accent4"/>
                </a:solidFill>
              </a:rPr>
              <a:t>Flutter – for mobile app development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  <a:br>
              <a:rPr lang="en-US" sz="2000" dirty="0">
                <a:solidFill>
                  <a:schemeClr val="accent4"/>
                </a:solidFill>
              </a:rPr>
            </a:br>
            <a:br>
              <a:rPr lang="en-GB" sz="2000" dirty="0">
                <a:solidFill>
                  <a:schemeClr val="accent4"/>
                </a:solidFill>
              </a:rPr>
            </a:br>
            <a:r>
              <a:rPr lang="en-GB" sz="2000" dirty="0">
                <a:solidFill>
                  <a:schemeClr val="accent4"/>
                </a:solidFill>
              </a:rPr>
              <a:t>Dart – language used with Flutter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  <a:br>
              <a:rPr lang="en-US" sz="2000" dirty="0">
                <a:solidFill>
                  <a:schemeClr val="accent4"/>
                </a:solidFill>
              </a:rPr>
            </a:br>
            <a:br>
              <a:rPr lang="en-GB" sz="2000" dirty="0">
                <a:solidFill>
                  <a:schemeClr val="accent4"/>
                </a:solidFill>
              </a:rPr>
            </a:br>
            <a:r>
              <a:rPr lang="en-GB" sz="2000" dirty="0">
                <a:solidFill>
                  <a:schemeClr val="accent4"/>
                </a:solidFill>
              </a:rPr>
              <a:t>Python – for AI model training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  <a:br>
              <a:rPr lang="en-US" sz="2000" dirty="0">
                <a:solidFill>
                  <a:schemeClr val="accent4"/>
                </a:solidFill>
              </a:rPr>
            </a:br>
            <a:br>
              <a:rPr lang="en-GB" sz="2000" dirty="0">
                <a:solidFill>
                  <a:schemeClr val="accent4"/>
                </a:solidFill>
              </a:rPr>
            </a:br>
            <a:r>
              <a:rPr lang="en-GB" sz="2000" dirty="0">
                <a:solidFill>
                  <a:schemeClr val="accent4"/>
                </a:solidFill>
              </a:rPr>
              <a:t>TensorFlow / PyTorch – for training models (ViT, VGG-16, ResNet)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  <a:br>
              <a:rPr lang="en-US" sz="2000" dirty="0">
                <a:solidFill>
                  <a:schemeClr val="accent4"/>
                </a:solidFill>
              </a:rPr>
            </a:br>
            <a:br>
              <a:rPr lang="en-GB" sz="2000" dirty="0">
                <a:solidFill>
                  <a:schemeClr val="accent4"/>
                </a:solidFill>
              </a:rPr>
            </a:br>
            <a:r>
              <a:rPr lang="en-GB" sz="2000" dirty="0">
                <a:solidFill>
                  <a:schemeClr val="accent4"/>
                </a:solidFill>
              </a:rPr>
              <a:t>MongoDB – for storing and retrieving user data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  <a:br>
              <a:rPr lang="en-US" sz="2000" dirty="0">
                <a:solidFill>
                  <a:schemeClr val="accent4"/>
                </a:solidFill>
              </a:rPr>
            </a:br>
            <a:br>
              <a:rPr lang="en-GB" sz="2000" dirty="0">
                <a:solidFill>
                  <a:schemeClr val="accent4"/>
                </a:solidFill>
              </a:rPr>
            </a:br>
            <a:r>
              <a:rPr lang="en-GB" sz="2000" dirty="0">
                <a:solidFill>
                  <a:schemeClr val="accent4"/>
                </a:solidFill>
              </a:rPr>
              <a:t>Flutter Sensor Plugins – for activity tracking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  <a:br>
              <a:rPr lang="en-US" sz="2000" dirty="0">
                <a:solidFill>
                  <a:schemeClr val="accent4"/>
                </a:solidFill>
              </a:rPr>
            </a:br>
            <a:br>
              <a:rPr lang="en-GB" sz="2000" dirty="0">
                <a:solidFill>
                  <a:schemeClr val="accent4"/>
                </a:solidFill>
              </a:rPr>
            </a:br>
            <a:r>
              <a:rPr lang="en-GB" sz="2000" dirty="0">
                <a:solidFill>
                  <a:schemeClr val="accent4"/>
                </a:solidFill>
              </a:rPr>
              <a:t>OpenCV – for image processing and food detection</a:t>
            </a:r>
            <a:r>
              <a:rPr lang="en-US" sz="2000" dirty="0">
                <a:solidFill>
                  <a:schemeClr val="accent4"/>
                </a:solidFill>
              </a:rPr>
              <a:t>.</a:t>
            </a:r>
            <a:br>
              <a:rPr lang="en-GB" sz="2000" dirty="0">
                <a:solidFill>
                  <a:schemeClr val="accent4"/>
                </a:solidFill>
              </a:rPr>
            </a:br>
            <a:endParaRPr lang="en-PK" sz="2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878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47" y="10847"/>
            <a:ext cx="6804247" cy="1041890"/>
          </a:xfrm>
        </p:spPr>
        <p:txBody>
          <a:bodyPr/>
          <a:lstStyle/>
          <a:p>
            <a:r>
              <a:rPr lang="en-US" sz="3600" dirty="0"/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34047" y="1052737"/>
            <a:ext cx="84969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BalanceBite</a:t>
            </a:r>
            <a:r>
              <a:rPr lang="en-US" dirty="0">
                <a:solidFill>
                  <a:schemeClr val="tx1"/>
                </a:solidFill>
              </a:rPr>
              <a:t> aims to address the rising obesity issue in Pakistan by providing a culturally relevant and AI-driven mobile app tailored to South-Asian users.</a:t>
            </a:r>
          </a:p>
          <a:p>
            <a:pPr lvl="0" defTabSz="914400" eaLnBrk="0" hangingPunct="0">
              <a:lnSpc>
                <a:spcPct val="100000"/>
              </a:lnSpc>
              <a:buClrTx/>
              <a:buSzTx/>
            </a:pPr>
            <a:endParaRPr lang="en-US" dirty="0">
              <a:solidFill>
                <a:schemeClr val="tx1"/>
              </a:solidFill>
            </a:endParaRPr>
          </a:p>
          <a:p>
            <a:pPr marL="285750" lvl="0" indent="-285750" defTabSz="914400" eaLnBrk="0" hangingPunct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application will offer accurate calorie tracking for traditional foods, activity tracking, and personalized health recommendations, contributing to healthier lifestyle choices. </a:t>
            </a:r>
          </a:p>
        </p:txBody>
      </p:sp>
    </p:spTree>
    <p:extLst>
      <p:ext uri="{BB962C8B-B14F-4D97-AF65-F5344CB8AC3E}">
        <p14:creationId xmlns:p14="http://schemas.microsoft.com/office/powerpoint/2010/main" val="2039397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0"/>
            <a:ext cx="3203848" cy="969882"/>
          </a:xfrm>
        </p:spPr>
        <p:txBody>
          <a:bodyPr/>
          <a:lstStyle/>
          <a:p>
            <a:r>
              <a:rPr lang="en-US" sz="3600" dirty="0"/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50941"/>
              </p:ext>
            </p:extLst>
          </p:nvPr>
        </p:nvGraphicFramePr>
        <p:xfrm>
          <a:off x="251520" y="741378"/>
          <a:ext cx="8640960" cy="50638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4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278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[1]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W. H. O. (WHO), "Obesity and Overweight," 2021. [Online]. Available: https://www.who.int/news-room/fact-    sheets/detail/obesity-and-overweight. [Accessed 1 9 2024].</a:t>
                      </a:r>
                    </a:p>
                  </a:txBody>
                  <a:tcPr marL="8626" marR="8626" marT="8626" marB="862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278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[2] P. T. A. (PTA), "Telecom Indicators," PTA, [Online]. Available: https://www.pta.gov.pk/category/telecom-indicators. [Accessed 1 9 2024].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626" marR="8626" marT="8626" marB="862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278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[3] S.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Djalalinia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Qorbani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N.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Peykari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R.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Kelishadi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"Health impacts of obesity," Pakistan Journal of Medical Sciences, vol. 31, no. 1, 2015.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626" marR="8626" marT="8626" marB="862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74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[4] P. T. H.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Jafar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B. A.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Haaland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P. A. Rahman, J. A.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Razzak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Bilger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Naghavi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P. A. H.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Mokdad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P. A. A.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Hyder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"Non-communicable diseases and injuries in Pakistan: strategic priorities," The Lancet Journal, vol. 381, no. 9885, pp. 2281-2290, 2013.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626" marR="8626" marT="8626" marB="862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278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[5] M. Boland and J.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Bronlund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"Trends in Food Science &amp; Technology," Trends in Food Science &amp; Technology 91, pp. 634-639, 2019.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626" marR="8626" marT="8626" marB="862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741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[6]</a:t>
                      </a:r>
                      <a:r>
                        <a:rPr lang="en-US" sz="14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Samad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F. Ahmed, "Smartphone apps for tracking food consumption and recommendations: Evaluating artificial intelligence-based functionalities, features and quality of current apps," Intelligent Systems with Applications, 2022.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626" marR="8626" marT="8626" marB="862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278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[7]  "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MyfitnessPal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,"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MyFitnessPal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Inc., 2024. [Online]. Available: https://www.myfitnesspal.com/. [Accessed 9 9 2024].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626" marR="8626" marT="8626" marB="862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278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[8] L. It!, "Weight Loss That Fits.,"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FitNow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Inc., 2023. [Online]. Available: https://www.loseit.com/. [Accessed 1 9 2024].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626" marR="8626" marT="8626" marB="862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278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[9]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Foodvisor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"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Foodvisor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Your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Nutriton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Assistant.,"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Foodvisor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2023. [Online]. Available: https://www.foodvisor.io/en/. [Accessed 1 9 2024].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626" marR="8626" marT="8626" marB="8626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685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111750"/>
              </p:ext>
            </p:extLst>
          </p:nvPr>
        </p:nvGraphicFramePr>
        <p:xfrm>
          <a:off x="179512" y="188640"/>
          <a:ext cx="8226425" cy="39015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[10] "Calorie MAMA,"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Azumio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2017. [Online]. Available: https://caloriemama.ai/. [Accessed 9 9 2024].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[11] "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Healthify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,"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HealthifyMe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Wellness Private Limited, [Online]. Available: https://www.healthifyme.com/in/. [Accessed 9 9 2024].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[12] "YAZIO," YAZIO, 2024. [Online]. Available: https://www.yazio.com/en. [Accessed 9 9 2024].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[13] "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Strava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,"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Strava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[Online]. Available: https://www.strava.com/. [Accessed 9 9 2024].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[14] "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Runtastic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," Adidas, [Online]. Available: https://www.runtastic.com/. [Accessed 9 9 2024].</a:t>
                      </a:r>
                    </a:p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[15]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"</a:t>
                      </a: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Fitbit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," Google, [Online]. Available: https://www.fitbit.com/global/us/home. [Accessed 9 9 2024].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[16] M. o. P. a. D. G. o. P. Islamabad, Food Composition Table For Pakistan, UNICEF Islamabad, 2001. </a:t>
                      </a: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[17]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MyFitnessPal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"Calorie Counter &amp; Diet Tracker," Under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Armour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2023. [Online]. Available: https://www.myfitnesspal.com/. [Accessed 1 9 2024].</a:t>
                      </a: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[18] S. Nam, S. Jung, D.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Vlahov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C.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Latkin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T. Kershaw and R.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Whittemore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, "Body mass index and obesity-related behaviors in African American church-based networks: A social network analysis," </a:t>
                      </a:r>
                      <a:r>
                        <a:rPr lang="en-US" sz="1400" b="0" i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Journal of Health Care for the Poor and Underserved,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vol. 18, no. 3, pp. 977-991, 2023. </a:t>
                      </a:r>
                    </a:p>
                  </a:txBody>
                  <a:tcPr marL="9525" marR="9525" marT="9525" marB="95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317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0"/>
            <a:ext cx="8226425" cy="1370013"/>
          </a:xfrm>
        </p:spPr>
        <p:txBody>
          <a:bodyPr/>
          <a:lstStyle/>
          <a:p>
            <a:pPr algn="ctr"/>
            <a:r>
              <a:rPr lang="en-US" dirty="0"/>
              <a:t>Q/A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452CCB4E-7DDC-4FBD-877B-F1654EDC1940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055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佈景主題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87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87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Office 佈景主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7888</TotalTime>
  <Words>1467</Words>
  <Application>Microsoft Office PowerPoint</Application>
  <PresentationFormat>On-screen Show (4:3)</PresentationFormat>
  <Paragraphs>159</Paragraphs>
  <Slides>19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佈景主題</vt:lpstr>
      <vt:lpstr>PowerPoint Presentation</vt:lpstr>
      <vt:lpstr>Overview</vt:lpstr>
      <vt:lpstr> Introduction</vt:lpstr>
      <vt:lpstr>Background </vt:lpstr>
      <vt:lpstr>Motivation</vt:lpstr>
      <vt:lpstr>Problem Statement</vt:lpstr>
      <vt:lpstr>Scope of the Project</vt:lpstr>
      <vt:lpstr>Project Objectives</vt:lpstr>
      <vt:lpstr>PowerPoint Presentation</vt:lpstr>
      <vt:lpstr>Methodology/Framework</vt:lpstr>
      <vt:lpstr>PowerPoint Presentation</vt:lpstr>
      <vt:lpstr>PowerPoint Presentation</vt:lpstr>
      <vt:lpstr>PowerPoint Presentation</vt:lpstr>
      <vt:lpstr>PowerPoint Presentation</vt:lpstr>
      <vt:lpstr>TOOLS   Flutter – for mobile app development.  Dart – language used with Flutter.  Python – for AI model training.  TensorFlow / PyTorch – for training models (ViT, VGG-16, ResNet).  MongoDB – for storing and retrieving user data.  Flutter Sensor Plugins – for activity tracking.  OpenCV – for image processing and food detection. </vt:lpstr>
      <vt:lpstr>Conclusion</vt:lpstr>
      <vt:lpstr>References</vt:lpstr>
      <vt:lpstr>PowerPoint Presentation</vt:lpstr>
      <vt:lpstr>Q/A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L-System &amp; Particle System</dc:title>
  <dc:creator>test</dc:creator>
  <cp:lastModifiedBy>02-136212-043</cp:lastModifiedBy>
  <cp:revision>719</cp:revision>
  <dcterms:modified xsi:type="dcterms:W3CDTF">2025-05-07T16:00:46Z</dcterms:modified>
</cp:coreProperties>
</file>